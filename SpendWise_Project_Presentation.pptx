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800">
                <a:solidFill>
                  <a:srgbClr val="FFFFFF"/>
                </a:solidFill>
              </a:defRPr>
            </a:pPr>
            <a:r>
              <a:t>SpendWise - Expense &amp; Budget Tracker</a:t>
            </a:r>
          </a:p>
          <a:p>
            <a:pPr>
              <a:defRPr sz="1400">
                <a:solidFill>
                  <a:srgbClr val="1876D2"/>
                </a:solidFill>
              </a:defRPr>
            </a:pPr>
            <a:r>
              <a:t>Mobile Application Development (MAD) Mini Project</a:t>
            </a:r>
            <a:br/>
            <a:r>
              <a:t>Department of Information Technology, ADIT | CVM University</a:t>
            </a:r>
            <a:br/>
            <a:br/>
            <a:r>
              <a:t>Developed by: Heel Soni (12302080601034) | Semester VII</a:t>
            </a:r>
          </a:p>
        </p:txBody>
      </p:sp>
      <p:pic>
        <p:nvPicPr>
          <p:cNvPr id="4" name="Picture 3" descr="home_scree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1645920"/>
            <a:ext cx="2174379" cy="4572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621792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387"/>
                </a:solidFill>
              </a:defRPr>
            </a:pPr>
            <a:r>
              <a:t>SpendWise - ADIT Information Technology | Heel Soni (12302080601034)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800">
                <a:solidFill>
                  <a:srgbClr val="FFFFFF"/>
                </a:solidFill>
              </a:defRPr>
            </a:pPr>
            <a:r>
              <a:t>Problem Statement &amp; Need</a:t>
            </a:r>
          </a:p>
          <a:p>
            <a:pPr>
              <a:defRPr sz="1400">
                <a:solidFill>
                  <a:srgbClr val="1876D2"/>
                </a:solidFill>
              </a:defRPr>
            </a:pPr>
            <a:r>
              <a:t>Why Offline Personal Finance?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10698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>
                <a:solidFill>
                  <a:srgbClr val="B4BECD"/>
                </a:solidFill>
              </a:defRPr>
            </a:pPr>
            <a:r>
              <a:t>•  College students on monthly allowances frequently suffer financial deficits due to unmonitored micro-spending.</a:t>
            </a:r>
          </a:p>
          <a:p>
            <a:pPr>
              <a:spcAft>
                <a:spcPts val="1400"/>
              </a:spcAft>
              <a:defRPr sz="1600">
                <a:solidFill>
                  <a:srgbClr val="B4BECD"/>
                </a:solidFill>
              </a:defRPr>
            </a:pPr>
            <a:r>
              <a:t>•  Commercial apps mandate cloud sync, intrusive accounts, third-party trackers, and advertisements.</a:t>
            </a:r>
          </a:p>
          <a:p>
            <a:pPr>
              <a:spcAft>
                <a:spcPts val="1400"/>
              </a:spcAft>
              <a:defRPr sz="1600">
                <a:solidFill>
                  <a:srgbClr val="B4BECD"/>
                </a:solidFill>
              </a:defRPr>
            </a:pPr>
            <a:r>
              <a:t>•  Paper diaries and spreadsheets lack automatic alerts, real-time calculations, and mobile convenience.</a:t>
            </a:r>
          </a:p>
          <a:p>
            <a:pPr>
              <a:spcAft>
                <a:spcPts val="1400"/>
              </a:spcAft>
              <a:defRPr sz="1600">
                <a:solidFill>
                  <a:srgbClr val="B4BECD"/>
                </a:solidFill>
              </a:defRPr>
            </a:pPr>
            <a:r>
              <a:t>•  Need: A lightweight, 100% offline, privacy-first mobile budgeting companion.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21792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387"/>
                </a:solidFill>
              </a:defRPr>
            </a:pPr>
            <a:r>
              <a:t>SpendWise - ADIT Information Technology | Heel Soni (12302080601034)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800">
                <a:solidFill>
                  <a:srgbClr val="FFFFFF"/>
                </a:solidFill>
              </a:defRPr>
            </a:pPr>
            <a:r>
              <a:t>Project Objectives &amp; Key Features</a:t>
            </a:r>
          </a:p>
          <a:p>
            <a:pPr>
              <a:defRPr sz="1400">
                <a:solidFill>
                  <a:srgbClr val="1876D2"/>
                </a:solidFill>
              </a:defRPr>
            </a:pPr>
            <a:r>
              <a:t>Core Capabilities of SpendWise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65836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>
                <a:solidFill>
                  <a:srgbClr val="B4BECD"/>
                </a:solidFill>
              </a:defRPr>
            </a:pPr>
            <a:r>
              <a:t>•  Full CRUD Operations: Create, view, update, and swipe-to-delete daily expenses.</a:t>
            </a:r>
          </a:p>
          <a:p>
            <a:pPr>
              <a:spcAft>
                <a:spcPts val="1400"/>
              </a:spcAft>
              <a:defRPr sz="1600">
                <a:solidFill>
                  <a:srgbClr val="B4BECD"/>
                </a:solidFill>
              </a:defRPr>
            </a:pPr>
            <a:r>
              <a:t>•  Monthly Budget Tracking: Real-time calculation of remaining balance and total spent.</a:t>
            </a:r>
          </a:p>
          <a:p>
            <a:pPr>
              <a:spcAft>
                <a:spcPts val="1400"/>
              </a:spcAft>
              <a:defRPr sz="1600">
                <a:solidFill>
                  <a:srgbClr val="B4BECD"/>
                </a:solidFill>
              </a:defRPr>
            </a:pPr>
            <a:r>
              <a:t>•  Automated Over-Budget Warning: Dynamic visual alert when spending exceeds limits.</a:t>
            </a:r>
          </a:p>
          <a:p>
            <a:pPr>
              <a:spcAft>
                <a:spcPts val="1400"/>
              </a:spcAft>
              <a:defRPr sz="1600">
                <a:solidFill>
                  <a:srgbClr val="B4BECD"/>
                </a:solidFill>
              </a:defRPr>
            </a:pPr>
            <a:r>
              <a:t>•  Interactive Category Pie Chart: Visual expenditure breakdown using fl_chart.</a:t>
            </a:r>
          </a:p>
          <a:p>
            <a:pPr>
              <a:spcAft>
                <a:spcPts val="1400"/>
              </a:spcAft>
              <a:defRPr sz="1600">
                <a:solidFill>
                  <a:srgbClr val="B4BECD"/>
                </a:solidFill>
              </a:defRPr>
            </a:pPr>
            <a:r>
              <a:t>•  Zero Cloud Dependencies: 100% offline persistence using embedded SQLite (sqflite).</a:t>
            </a:r>
          </a:p>
        </p:txBody>
      </p:sp>
      <p:pic>
        <p:nvPicPr>
          <p:cNvPr id="5" name="Picture 4" descr="add_expens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1645920"/>
            <a:ext cx="2174379" cy="4572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621792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387"/>
                </a:solidFill>
              </a:defRPr>
            </a:pPr>
            <a:r>
              <a:t>SpendWise - ADIT Information Technology | Heel Soni (12302080601034)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800">
                <a:solidFill>
                  <a:srgbClr val="FFFFFF"/>
                </a:solidFill>
              </a:defRPr>
            </a:pPr>
            <a:r>
              <a:t>Technology Stack &amp; Architecture</a:t>
            </a:r>
          </a:p>
          <a:p>
            <a:pPr>
              <a:defRPr sz="1400">
                <a:solidFill>
                  <a:srgbClr val="1876D2"/>
                </a:solidFill>
              </a:defRPr>
            </a:pPr>
            <a:r>
              <a:t>Modern Modular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65836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>
                <a:solidFill>
                  <a:srgbClr val="B4BECD"/>
                </a:solidFill>
              </a:defRPr>
            </a:pPr>
            <a:r>
              <a:t>•  Flutter (v3.47+): Cross-platform UI toolkit with 60+ FPS hardware acceleration.</a:t>
            </a:r>
          </a:p>
          <a:p>
            <a:pPr>
              <a:spcAft>
                <a:spcPts val="1400"/>
              </a:spcAft>
              <a:defRPr sz="1600">
                <a:solidFill>
                  <a:srgbClr val="B4BECD"/>
                </a:solidFill>
              </a:defRPr>
            </a:pPr>
            <a:r>
              <a:t>•  Dart (v3.13+): Strongly-typed, object-oriented reactive programming.</a:t>
            </a:r>
          </a:p>
          <a:p>
            <a:pPr>
              <a:spcAft>
                <a:spcPts val="1400"/>
              </a:spcAft>
              <a:defRPr sz="1600">
                <a:solidFill>
                  <a:srgbClr val="B4BECD"/>
                </a:solidFill>
              </a:defRPr>
            </a:pPr>
            <a:r>
              <a:t>•  SQLite (sqflite): Embedded ACID-compliant database with thread-safe Singleton pattern.</a:t>
            </a:r>
          </a:p>
          <a:p>
            <a:pPr>
              <a:spcAft>
                <a:spcPts val="1400"/>
              </a:spcAft>
              <a:defRPr sz="1600">
                <a:solidFill>
                  <a:srgbClr val="B4BECD"/>
                </a:solidFill>
              </a:defRPr>
            </a:pPr>
            <a:r>
              <a:t>•  fl_chart: Hardware-accelerated dynamic interactive pie chart.</a:t>
            </a:r>
          </a:p>
          <a:p>
            <a:pPr>
              <a:spcAft>
                <a:spcPts val="1400"/>
              </a:spcAft>
              <a:defRPr sz="1600">
                <a:solidFill>
                  <a:srgbClr val="B4BECD"/>
                </a:solidFill>
              </a:defRPr>
            </a:pPr>
            <a:r>
              <a:t>•  intl &amp; Material 3: ISO 8601 parsing, INR (₹) formatting, and sleek dark mode theme.</a:t>
            </a:r>
          </a:p>
        </p:txBody>
      </p:sp>
      <p:pic>
        <p:nvPicPr>
          <p:cNvPr id="5" name="Picture 4" descr="category_dropdow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1645920"/>
            <a:ext cx="2174379" cy="4572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621792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387"/>
                </a:solidFill>
              </a:defRPr>
            </a:pPr>
            <a:r>
              <a:t>SpendWise - ADIT Information Technology | Heel Soni (12302080601034)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800">
                <a:solidFill>
                  <a:srgbClr val="FFFFFF"/>
                </a:solidFill>
              </a:defRPr>
            </a:pPr>
            <a:r>
              <a:t>Database Design (SQLite)</a:t>
            </a:r>
          </a:p>
          <a:p>
            <a:pPr>
              <a:defRPr sz="1400">
                <a:solidFill>
                  <a:srgbClr val="1876D2"/>
                </a:solidFill>
              </a:defRPr>
            </a:pPr>
            <a:r>
              <a:t>Relational Tables &amp; Optimized Queries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65836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>
                <a:solidFill>
                  <a:srgbClr val="B4BECD"/>
                </a:solidFill>
              </a:defRPr>
            </a:pPr>
            <a:r>
              <a:t>•  Table 'expenses': id (PK AUTOINCREMENT), title, amount, category, date, note.</a:t>
            </a:r>
          </a:p>
          <a:p>
            <a:pPr>
              <a:spcAft>
                <a:spcPts val="1400"/>
              </a:spcAft>
              <a:defRPr sz="1600">
                <a:solidFill>
                  <a:srgbClr val="B4BECD"/>
                </a:solidFill>
              </a:defRPr>
            </a:pPr>
            <a:r>
              <a:t>•  Table 'budgets': month_key (PK 'YYYY-MM'), amount (REAL).</a:t>
            </a:r>
          </a:p>
          <a:p>
            <a:pPr>
              <a:spcAft>
                <a:spcPts val="1400"/>
              </a:spcAft>
              <a:defRPr sz="1600">
                <a:solidFill>
                  <a:srgbClr val="B4BECD"/>
                </a:solidFill>
              </a:defRPr>
            </a:pPr>
            <a:r>
              <a:t>•  Wildcard Date Queries: Efficiently retrieve monthly data via 'WHERE date LIKE 2026-10%'.</a:t>
            </a:r>
          </a:p>
          <a:p>
            <a:pPr>
              <a:spcAft>
                <a:spcPts val="1400"/>
              </a:spcAft>
              <a:defRPr sz="1600">
                <a:solidFill>
                  <a:srgbClr val="B4BECD"/>
                </a:solidFill>
              </a:defRPr>
            </a:pPr>
            <a:r>
              <a:t>•  Category Grouping: 'SELECT category, SUM(amount) FROM expenses GROUP BY category'.</a:t>
            </a:r>
          </a:p>
          <a:p>
            <a:pPr>
              <a:spcAft>
                <a:spcPts val="1400"/>
              </a:spcAft>
              <a:defRPr sz="1600">
                <a:solidFill>
                  <a:srgbClr val="B4BECD"/>
                </a:solidFill>
              </a:defRPr>
            </a:pPr>
            <a:r>
              <a:t>•  Singleton DBHelper: Guarantees single database handle, preventing lock contention.</a:t>
            </a:r>
          </a:p>
        </p:txBody>
      </p:sp>
      <p:pic>
        <p:nvPicPr>
          <p:cNvPr id="5" name="Picture 4" descr="analytics_summary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1645920"/>
            <a:ext cx="2174379" cy="4572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621792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387"/>
                </a:solidFill>
              </a:defRPr>
            </a:pPr>
            <a:r>
              <a:t>SpendWise - ADIT Information Technology | Heel Soni (12302080601034)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800">
                <a:solidFill>
                  <a:srgbClr val="FFFFFF"/>
                </a:solidFill>
              </a:defRPr>
            </a:pPr>
            <a:r>
              <a:t>Testing, Results &amp; Viva Defense</a:t>
            </a:r>
          </a:p>
          <a:p>
            <a:pPr>
              <a:defRPr sz="1400">
                <a:solidFill>
                  <a:srgbClr val="1876D2"/>
                </a:solidFill>
              </a:defRPr>
            </a:pPr>
            <a:r>
              <a:t>100% Pass Rate Across 10 Test Cases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65836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>
                <a:solidFill>
                  <a:srgbClr val="B4BECD"/>
                </a:solidFill>
              </a:defRPr>
            </a:pPr>
            <a:r>
              <a:t>•  Input Validation: Bulletproof rules against negative amounts, non-numeric strings, and empty titles.</a:t>
            </a:r>
          </a:p>
          <a:p>
            <a:pPr>
              <a:spcAft>
                <a:spcPts val="1400"/>
              </a:spcAft>
              <a:defRPr sz="1600">
                <a:solidFill>
                  <a:srgbClr val="B4BECD"/>
                </a:solidFill>
              </a:defRPr>
            </a:pPr>
            <a:r>
              <a:t>•  Swipe-to-Delete with Undo: Prevents accidental deletions with 4-second restoration SnackBar.</a:t>
            </a:r>
          </a:p>
          <a:p>
            <a:pPr>
              <a:spcAft>
                <a:spcPts val="1400"/>
              </a:spcAft>
              <a:defRPr sz="1600">
                <a:solidFill>
                  <a:srgbClr val="B4BECD"/>
                </a:solidFill>
              </a:defRPr>
            </a:pPr>
            <a:r>
              <a:t>•  Release APK: 49.1 MB standalone APK compiled successfully for Android 8.0+.</a:t>
            </a:r>
          </a:p>
          <a:p>
            <a:pPr>
              <a:spcAft>
                <a:spcPts val="1400"/>
              </a:spcAft>
              <a:defRPr sz="1600">
                <a:solidFill>
                  <a:srgbClr val="B4BECD"/>
                </a:solidFill>
              </a:defRPr>
            </a:pPr>
            <a:r>
              <a:t>•  Instant Launch Speed: App cold starts under 850ms with zero network latency.</a:t>
            </a:r>
          </a:p>
          <a:p>
            <a:pPr>
              <a:spcAft>
                <a:spcPts val="1400"/>
              </a:spcAft>
              <a:defRPr sz="1600">
                <a:solidFill>
                  <a:srgbClr val="B4BECD"/>
                </a:solidFill>
              </a:defRPr>
            </a:pPr>
            <a:r>
              <a:t>•  GitHub Repository: Open-source repository with full source, tests, and documentation.</a:t>
            </a:r>
          </a:p>
        </p:txBody>
      </p:sp>
      <p:pic>
        <p:nvPicPr>
          <p:cNvPr id="5" name="Picture 4" descr="expense_adde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1645920"/>
            <a:ext cx="2174379" cy="4572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621792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387"/>
                </a:solidFill>
              </a:defRPr>
            </a:pPr>
            <a:r>
              <a:t>SpendWise - ADIT Information Technology | Heel Soni (12302080601034)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